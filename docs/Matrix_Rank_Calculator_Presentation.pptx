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1248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C Programming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" y="3977640"/>
            <a:ext cx="2926080" cy="0"/>
          </a:xfrm>
          <a:prstGeom prst="line">
            <a:avLst/>
          </a:prstGeom>
          <a:noFill/>
          <a:ln w="19050">
            <a:solidFill>
              <a:srgbClr val="2FA8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for Problem Solving (C)  •  Console-Based Mini Project  •  Beginner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the rank of a matrix entered by the user — the maximum number of linearly independent rows or columns — using an in-place Gaussian elimination procedure implemented in 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3200400"/>
            <a:ext cx="347472" cy="347472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309067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Manipulation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336499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two-dimensional arrays as the core data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58768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4041648"/>
            <a:ext cx="347472" cy="347472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3931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Elimination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420624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reduction to transform a matrix into echelon 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882896"/>
            <a:ext cx="347472" cy="347472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882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47731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Problem-Solving in 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504748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Translating a mathematical procedure into imperative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541264"/>
            <a:ext cx="6492240" cy="713232"/>
          </a:xfrm>
          <a:prstGeom prst="rect">
            <a:avLst>
              <a:gd name="adj" fmla="val 7692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724144"/>
            <a:ext cx="347472" cy="347472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724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56144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Arrays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7008" y="588873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Indexing, iteration, and in-place mutation of matrix[10][10]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of a Matrix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80960" y="2514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maximum number of linearly independent rows (equivalently, columns) in a matrix A of size m × 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365760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property: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rank = column rank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(the Rank Theorem)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80960" y="480060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≤ rank(A) ≤ min(m, n)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Ten-Step Elimination Procedure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417320"/>
          </a:xfrm>
          <a:prstGeom prst="rect">
            <a:avLst>
              <a:gd name="adj" fmla="val 4516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program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1259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1600200"/>
            <a:ext cx="2084832" cy="1417320"/>
          </a:xfrm>
          <a:prstGeom prst="rect">
            <a:avLst>
              <a:gd name="adj" fmla="val 4516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07792" y="21031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rows &amp;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2896" y="21259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47488" y="1600200"/>
            <a:ext cx="2084832" cy="1417320"/>
          </a:xfrm>
          <a:prstGeom prst="rect">
            <a:avLst>
              <a:gd name="adj" fmla="val 4516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7216" y="21031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matrix elements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1259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6912" y="1600200"/>
            <a:ext cx="2084832" cy="1417320"/>
          </a:xfrm>
          <a:prstGeom prst="rect">
            <a:avLst>
              <a:gd name="adj" fmla="val 4516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21031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Assume rank = columns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81744" y="21259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46336" y="1600200"/>
            <a:ext cx="2084832" cy="1417320"/>
          </a:xfrm>
          <a:prstGeom prst="rect">
            <a:avLst>
              <a:gd name="adj" fmla="val 4516"/>
            </a:avLst>
          </a:prstGeom>
          <a:solidFill>
            <a:srgbClr val="162C56"/>
          </a:solidFill>
          <a:ln w="9525">
            <a:solidFill>
              <a:srgbClr val="162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6064" y="21031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Row-reduce to echelon 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2084832" cy="1417320"/>
          </a:xfrm>
          <a:prstGeom prst="rect">
            <a:avLst>
              <a:gd name="adj" fmla="val 451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C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" y="38404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each diagonal element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33472" y="38633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3337560"/>
            <a:ext cx="2084832" cy="1417320"/>
          </a:xfrm>
          <a:prstGeom prst="rect">
            <a:avLst>
              <a:gd name="adj" fmla="val 451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C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07792" y="38404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pivot → swap or reduce rank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38633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47488" y="3337560"/>
            <a:ext cx="2084832" cy="1417320"/>
          </a:xfrm>
          <a:prstGeom prst="rect">
            <a:avLst>
              <a:gd name="adj" fmla="val 451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C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57216" y="38404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elimination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38633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96912" y="3337560"/>
            <a:ext cx="2084832" cy="1417320"/>
          </a:xfrm>
          <a:prstGeom prst="rect">
            <a:avLst>
              <a:gd name="adj" fmla="val 451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C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06640" y="38404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final rank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81744" y="38633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98C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46336" y="3337560"/>
            <a:ext cx="2084832" cy="1417320"/>
          </a:xfrm>
          <a:prstGeom prst="rect">
            <a:avLst>
              <a:gd name="adj" fmla="val 451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56064" y="3429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C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56064" y="384048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program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11064240" cy="777240"/>
          </a:xfrm>
          <a:prstGeom prst="rect">
            <a:avLst>
              <a:gd name="adj" fmla="val 7059"/>
            </a:avLst>
          </a:prstGeom>
          <a:solidFill>
            <a:srgbClr val="E4F3EF"/>
          </a:solidFill>
          <a:ln w="9525">
            <a:solidFill>
              <a:srgbClr val="2FA8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46811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idea: rank starts optimistic (= number of columns) and is only decremented when a column proves linearly dependent on those already processed — after row swaps are exhausted.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" y="2788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rows, cols,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matrix[i][j]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46020" y="2971800"/>
            <a:ext cx="384048" cy="0"/>
          </a:xfrm>
          <a:prstGeom prst="line">
            <a:avLst/>
          </a:prstGeom>
          <a:noFill/>
          <a:ln w="25400">
            <a:solidFill>
              <a:srgbClr val="2FA8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0068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0068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21508" y="2788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matrix[10][10]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(2D array)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0308" y="2971800"/>
            <a:ext cx="384048" cy="0"/>
          </a:xfrm>
          <a:prstGeom prst="line">
            <a:avLst/>
          </a:prstGeom>
          <a:noFill/>
          <a:ln w="25400">
            <a:solidFill>
              <a:srgbClr val="2FA8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34356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25796" y="2788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operations,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checks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4596" y="2971800"/>
            <a:ext cx="384048" cy="0"/>
          </a:xfrm>
          <a:prstGeom prst="line">
            <a:avLst/>
          </a:prstGeom>
          <a:noFill/>
          <a:ln w="25400">
            <a:solidFill>
              <a:srgbClr val="2FA8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38644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162C56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8644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 Rank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30084" y="2788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rows or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decrement rank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58884" y="2971800"/>
            <a:ext cx="384048" cy="0"/>
          </a:xfrm>
          <a:prstGeom prst="line">
            <a:avLst/>
          </a:prstGeom>
          <a:noFill/>
          <a:ln w="25400">
            <a:solidFill>
              <a:srgbClr val="2FA8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42932" y="2103120"/>
            <a:ext cx="1920240" cy="1737360"/>
          </a:xfrm>
          <a:prstGeom prst="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DC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2932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834372" y="2788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final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Elimination and rank adjustment repeat in a loop until every column has been evaluated — decision branch highlighted in navy.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94560" y="5029200"/>
            <a:ext cx="7772400" cy="1188720"/>
          </a:xfrm>
          <a:prstGeom prst="rect">
            <a:avLst>
              <a:gd name="adj" fmla="val 6154"/>
            </a:avLst>
          </a:prstGeom>
          <a:solidFill>
            <a:srgbClr val="E4F3EF"/>
          </a:solidFill>
          <a:ln w="9525">
            <a:solidFill>
              <a:srgbClr val="2FA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at each pivot: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68880" y="5486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matrix[i][i] ≠ 0  →  eliminate column across all rows        matrix[i][i] = 0  →  swap with nonzero row below, else rank--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 cols;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 = 0; i &lt; rank; i++)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if(matrix[i][i] != 0) {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831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eliminate column 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ratio = matrix[j][i] / matrix[i][i];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775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matrix[j][k] -= ratio * matrix[i][k];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7190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search row below for swap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if(reduce) {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662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rank--;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i--;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606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5549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8521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printf("Rank = %d", rank);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3800" y="1975104"/>
            <a:ext cx="91440" cy="91440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starts at cols and only ever decreases — never re-increases.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2889504"/>
            <a:ext cx="91440" cy="91440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2788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Elimination zeroes out column i in every other row using the pivot ratio.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43800" y="3803904"/>
            <a:ext cx="91440" cy="91440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3703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zero pivot triggers a search for a nonzero row below to swap in.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4718304"/>
            <a:ext cx="91440" cy="91440"/>
          </a:xfrm>
          <a:prstGeom prst="ellipse">
            <a:avLst/>
          </a:prstGeom>
          <a:solidFill>
            <a:srgbClr val="2FA88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4617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no swap is possible, the column is dependent: rank-- and the loop re-checks index 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Input &amp;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ect">
            <a:avLst>
              <a:gd name="adj" fmla="val 1633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× 3 Matrix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04288" y="2651760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36976" y="2651760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651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401568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4015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04288" y="3401568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34015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36976" y="3401568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34015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151376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1513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04288" y="4151376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04288" y="41513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36976" y="4151376"/>
            <a:ext cx="8229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62C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41513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Observation: Row 2 = 2 × Row 1 → linearly dependent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3 is independent of Row 1 and Row 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1554480"/>
            <a:ext cx="5577840" cy="4480560"/>
          </a:xfrm>
          <a:prstGeom prst="rect">
            <a:avLst>
              <a:gd name="adj" fmla="val 1633"/>
            </a:avLst>
          </a:prstGeom>
          <a:solidFill>
            <a:srgbClr val="162C5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 Rank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8120" y="2697480"/>
            <a:ext cx="1828800" cy="1828800"/>
          </a:xfrm>
          <a:prstGeom prst="ellipse">
            <a:avLst/>
          </a:prstGeom>
          <a:solidFill>
            <a:srgbClr val="0D1B33"/>
          </a:solidFill>
          <a:ln w="25400">
            <a:solidFill>
              <a:srgbClr val="2FA8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6974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630936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of Matrix = 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5166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CA9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manual Gaussian elimination — verified independently and reproduced by the companion interactive HTML tool.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rect">
            <a:avLst>
              <a:gd name="adj" fmla="val 12727"/>
            </a:avLst>
          </a:prstGeom>
          <a:solidFill>
            <a:srgbClr val="2FA8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Layout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matrices are stored and indexed in a two-dimensional array.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rect">
            <a:avLst>
              <a:gd name="adj" fmla="val 12727"/>
            </a:avLst>
          </a:prstGeom>
          <a:solidFill>
            <a:srgbClr val="2FA88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562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elementary row operations preserve the row space of a matrix.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rect">
            <a:avLst>
              <a:gd name="adj" fmla="val 12727"/>
            </a:avLst>
          </a:prstGeom>
          <a:solidFill>
            <a:srgbClr val="2FA8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Elimination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systematic elimination reduces a matrix to echelon 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212080" cy="1965960"/>
          </a:xfrm>
          <a:prstGeom prst="rect">
            <a:avLst>
              <a:gd name="adj" fmla="val 41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502920" cy="502920"/>
          </a:xfrm>
          <a:prstGeom prst="rect">
            <a:avLst>
              <a:gd name="adj" fmla="val 12727"/>
            </a:avLst>
          </a:prstGeom>
          <a:solidFill>
            <a:srgbClr val="2FA8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Problem-Solving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mathematical procedure translates into working C code.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 •  Programming for Problem Solving (C)  •  GSSIPU Semester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VIVA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Frequently Asked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rank of a matrix?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maximum number of linearly independent rows or columns.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square matrix?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matrix having equal rows and columns.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data structure stores the matrix?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two-dimensional array.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Gaussian Elimination?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method that simplifies a matrix using row operations.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Rank Calculator — C Programming Mini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08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1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2026-08-17T18:20:52Z</dcterms:created>
  <dcterms:modified xsi:type="dcterms:W3CDTF">2026-08-17T18:20:52Z</dcterms:modified>
</cp:coreProperties>
</file>